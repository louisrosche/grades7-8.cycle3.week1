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WRITE first (30 sec silent). Then TURN &amp; TALK. Cold call 2-3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NOTECARD CHECK: Students write which concept they remember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 FIRST on notecard. Cold call coming!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EXPLICIT CHAIN - write on board. Students copy in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CALCULATION: 90% reflected → 6% means 84% MORE absorption!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PREDICTION on notecard before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around and check. Flag positive=good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both. Ask: What makes the strong one better?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notecards as formative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Wednesday rotation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 only - 30 seconds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Another positive feedback! Warmer water → less absorption → more CO2 → more warming.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warming → change → MORE warming.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feedbacks AMPLIFY warming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Carbon is CONSERVED. Can't destroy CO2, only move carbon.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for numbers! Where do carbon atoms GO?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positive feedback ≠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notecards. Preview Week 3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Preview: Part 1 Synthesis, Part 2 Cumulative, Part 3 Misconception.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Feedback Loops &amp; Tipping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Grade 7 Science | Cycle 3 Week 2 | MS-ESS3-5</a:t>
            </a:r>
            <a:br/>
            <a:r>
              <a:t>Rosche | Kairos Academies | 100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Hook + Station 1 | Direct Instruction Focus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Melting Ice Mystery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Scientists discovered something strange about Arctic ice:</a:t>
            </a:r>
          </a:p>
          <a:p>
            <a:pPr>
              <a:spcAft>
                <a:spcPts val="800"/>
              </a:spcAft>
              <a:defRPr sz="1800"/>
            </a:pPr>
            <a:r>
              <a:t>  • When ice STARTS melting, it doesn't melt at a steady rate</a:t>
            </a:r>
          </a:p>
          <a:p>
            <a:pPr>
              <a:spcAft>
                <a:spcPts val="800"/>
              </a:spcAft>
              <a:defRPr sz="1800"/>
            </a:pPr>
            <a:r>
              <a:t>  • Instead, melting SPEEDS UP over time</a:t>
            </a:r>
          </a:p>
          <a:p>
            <a:pPr>
              <a:spcAft>
                <a:spcPts val="800"/>
              </a:spcAft>
              <a:defRPr sz="1800"/>
            </a:pPr>
            <a:r>
              <a:t>  • The more ice that melts, the FASTER remaining ice melts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MYSTERY: Why would melting cause MORE melting?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QUICK WRITE: 30 seconds - What's your prediction?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Driving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How do Earth's systems create feedback loops</a:t>
            </a:r>
          </a:p>
          <a:p>
            <a:pPr>
              <a:spcAft>
                <a:spcPts val="800"/>
              </a:spcAft>
              <a:defRPr sz="1800"/>
            </a:pPr>
            <a:r>
              <a:t>that can accelerate climate change?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WEEK 1 CONNECTION:</a:t>
            </a:r>
          </a:p>
          <a:p>
            <a:pPr>
              <a:spcAft>
                <a:spcPts val="800"/>
              </a:spcAft>
              <a:defRPr sz="1800"/>
            </a:pPr>
            <a:r>
              <a:t>You learned HOW greenhouse gases trap heat (CO2 vibrates).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WEEK 2 QUESTION:</a:t>
            </a:r>
          </a:p>
          <a:p>
            <a:pPr>
              <a:spcAft>
                <a:spcPts val="800"/>
              </a:spcAft>
              <a:defRPr sz="1800"/>
            </a:pPr>
            <a:r>
              <a:t>What happens when warming causes MORE warming?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Week 1 Review: The Greenhouse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✓ CO2 absorbs infrared → molecules VIBRATE (not break!)</a:t>
            </a:r>
          </a:p>
          <a:p>
            <a:pPr>
              <a:spcAft>
                <a:spcPts val="800"/>
              </a:spcAft>
              <a:defRPr sz="1800"/>
            </a:pPr>
            <a:r>
              <a:t>✓ 3+ atom molecules (CO2, H2O) are greenhouse gases</a:t>
            </a:r>
          </a:p>
          <a:p>
            <a:pPr>
              <a:spcAft>
                <a:spcPts val="800"/>
              </a:spcAft>
              <a:defRPr sz="1800"/>
            </a:pPr>
            <a:r>
              <a:t>✓ Carbon atoms are CONSERVED - never created or destroyed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MISCONCEPTION CHECK:</a:t>
            </a:r>
          </a:p>
          <a:p>
            <a:pPr>
              <a:spcAft>
                <a:spcPts val="800"/>
              </a:spcAft>
              <a:defRPr sz="1800"/>
            </a:pPr>
            <a:r>
              <a:t>Does breaking bonds release energy or require energy?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WRONG: 'Breaking bonds releases energy'</a:t>
            </a:r>
          </a:p>
          <a:p>
            <a:pPr>
              <a:spcAft>
                <a:spcPts val="800"/>
              </a:spcAft>
              <a:defRPr sz="1800"/>
            </a:pPr>
            <a:r>
              <a:t>RIGHT: 'Breaking bonds REQUIRES energy; forming releases'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Day 1 Learning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TARGET 1: Explain how ALBEDO affects Earth's energy balance</a:t>
            </a:r>
          </a:p>
          <a:p>
            <a:pPr>
              <a:spcAft>
                <a:spcPts val="800"/>
              </a:spcAft>
              <a:defRPr sz="1800"/>
            </a:pPr>
            <a:r>
              <a:t>  → Albedo = fraction of light reflected</a:t>
            </a:r>
          </a:p>
          <a:p>
            <a:pPr>
              <a:spcAft>
                <a:spcPts val="800"/>
              </a:spcAft>
              <a:defRPr sz="1800"/>
            </a:pPr>
            <a:r>
              <a:t>  → High albedo (white) = stays cool</a:t>
            </a:r>
          </a:p>
          <a:p>
            <a:pPr>
              <a:spcAft>
                <a:spcPts val="800"/>
              </a:spcAft>
              <a:defRPr sz="1800"/>
            </a:pPr>
            <a:r>
              <a:t>  → Low albedo (dark) = heats up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TARGET 2: Model a POSITIVE FEEDBACK loop</a:t>
            </a:r>
          </a:p>
          <a:p>
            <a:pPr>
              <a:spcAft>
                <a:spcPts val="800"/>
              </a:spcAft>
              <a:defRPr sz="1800"/>
            </a:pPr>
            <a:r>
              <a:t>  → Output becomes new Input → amplifies change</a:t>
            </a:r>
          </a:p>
          <a:p>
            <a:pPr>
              <a:spcAft>
                <a:spcPts val="800"/>
              </a:spcAft>
              <a:defRPr sz="1800"/>
            </a:pPr>
            <a:r>
              <a:t>  → NOT 'positive = good'!</a:t>
            </a:r>
          </a:p>
          <a:p>
            <a:pPr>
              <a:spcAft>
                <a:spcPts val="800"/>
              </a:spcAft>
              <a:defRPr sz="1800"/>
            </a:pPr>
            <a:r>
              <a:t>  → Positive = SAME DIRECTION (amplifying)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Day 1 Forms: Hook (12 pts) + Station 1 (20 pts) = 32 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HOOK | 12 Points | ~10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WHAT YOU'LL DO:</a:t>
            </a:r>
          </a:p>
          <a:p>
            <a:pPr>
              <a:spcAft>
                <a:spcPts val="800"/>
              </a:spcAft>
              <a:defRPr sz="1800"/>
            </a:pPr>
            <a:r>
              <a:t>1. Observe: White ice vs. dark water (2 min)</a:t>
            </a:r>
          </a:p>
          <a:p>
            <a:pPr>
              <a:spcAft>
                <a:spcPts val="800"/>
              </a:spcAft>
              <a:defRPr sz="1800"/>
            </a:pPr>
            <a:r>
              <a:t>2. Predict: What happens when ice melts? (3 min)</a:t>
            </a:r>
          </a:p>
          <a:p>
            <a:pPr>
              <a:spcAft>
                <a:spcPts val="800"/>
              </a:spcAft>
              <a:defRPr sz="1800"/>
            </a:pPr>
            <a:r>
              <a:t>3. Identify the feedback loop (3 min)</a:t>
            </a:r>
          </a:p>
          <a:p>
            <a:pPr>
              <a:spcAft>
                <a:spcPts val="800"/>
              </a:spcAft>
              <a:defRPr sz="1800"/>
            </a:pPr>
            <a:r>
              <a:t>4. Submit in Google Form (2 min)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KEY TERMS TO USE:</a:t>
            </a:r>
          </a:p>
          <a:p>
            <a:pPr>
              <a:spcAft>
                <a:spcPts val="800"/>
              </a:spcAft>
              <a:defRPr sz="1800"/>
            </a:pPr>
            <a:r>
              <a:t>  • Absorb / Reflect</a:t>
            </a:r>
          </a:p>
          <a:p>
            <a:pPr>
              <a:spcAft>
                <a:spcPts val="800"/>
              </a:spcAft>
              <a:defRPr sz="1800"/>
            </a:pPr>
            <a:r>
              <a:t>  • Temperature increase</a:t>
            </a:r>
          </a:p>
          <a:p>
            <a:pPr>
              <a:spcAft>
                <a:spcPts val="800"/>
              </a:spcAft>
              <a:defRPr sz="1800"/>
            </a:pPr>
            <a:r>
              <a:t>  • 'The more... the more...'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START: 'When ice melts, I think... because...'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Hook Debrief: The Reasoning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Let's trace the logic step by step: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1. Ice is WHITE → reflects sunlight → stays cool</a:t>
            </a:r>
          </a:p>
          <a:p>
            <a:pPr>
              <a:spcAft>
                <a:spcPts val="800"/>
              </a:spcAft>
              <a:defRPr sz="1800"/>
            </a:pPr>
            <a:r>
              <a:t>2. Ocean is DARK → absorbs sunlight → heats up</a:t>
            </a:r>
          </a:p>
          <a:p>
            <a:pPr>
              <a:spcAft>
                <a:spcPts val="800"/>
              </a:spcAft>
              <a:defRPr sz="1800"/>
            </a:pPr>
            <a:r>
              <a:t>3. Some ice melts → exposes dark ocean</a:t>
            </a:r>
          </a:p>
          <a:p>
            <a:pPr>
              <a:spcAft>
                <a:spcPts val="800"/>
              </a:spcAft>
              <a:defRPr sz="1800"/>
            </a:pPr>
            <a:r>
              <a:t>4. Dark ocean absorbs MORE light → heats up MORE</a:t>
            </a:r>
          </a:p>
          <a:p>
            <a:pPr>
              <a:spcAft>
                <a:spcPts val="800"/>
              </a:spcAft>
              <a:defRPr sz="1800"/>
            </a:pPr>
            <a:r>
              <a:t>5. More heat → MORE ice melts</a:t>
            </a:r>
          </a:p>
          <a:p>
            <a:pPr>
              <a:spcAft>
                <a:spcPts val="800"/>
              </a:spcAft>
              <a:defRPr sz="1800"/>
            </a:pPr>
            <a:r>
              <a:t>6. REPEAT: This is a POSITIVE FEEDBACK LOOP!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CHAIN: Ice melts → Ocean exposed → Absorbs heat →</a:t>
            </a:r>
          </a:p>
          <a:p>
            <a:pPr>
              <a:spcAft>
                <a:spcPts val="800"/>
              </a:spcAft>
              <a:defRPr sz="1800"/>
            </a:pPr>
            <a:r>
              <a:t>       More melting → More ocean → More heat →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Direct Instruction: Albedo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ALBEDO = fraction of light REFLECTED (0 to 1)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SURFACE        ALBEDO    RESULT</a:t>
            </a:r>
          </a:p>
          <a:p>
            <a:pPr>
              <a:spcAft>
                <a:spcPts val="800"/>
              </a:spcAft>
              <a:defRPr sz="1800"/>
            </a:pPr>
            <a:r>
              <a:t>Fresh snow      0.9      Reflects 90% → COOL</a:t>
            </a:r>
          </a:p>
          <a:p>
            <a:pPr>
              <a:spcAft>
                <a:spcPts val="800"/>
              </a:spcAft>
              <a:defRPr sz="1800"/>
            </a:pPr>
            <a:r>
              <a:t>Ocean water     0.06     Reflects 6% → HOT</a:t>
            </a:r>
          </a:p>
          <a:p>
            <a:pPr>
              <a:spcAft>
                <a:spcPts val="800"/>
              </a:spcAft>
              <a:defRPr sz="1800"/>
            </a:pPr>
            <a:r>
              <a:t>Forest          0.15     Reflects 15%</a:t>
            </a:r>
          </a:p>
          <a:p>
            <a:pPr>
              <a:spcAft>
                <a:spcPts val="800"/>
              </a:spcAft>
              <a:defRPr sz="1800"/>
            </a:pPr>
            <a:r>
              <a:t>Desert          0.40     Reflects 40%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THINK: If Arctic ice (albedo 0.9) melts to ocean (0.06),</a:t>
            </a:r>
          </a:p>
          <a:p>
            <a:pPr>
              <a:spcAft>
                <a:spcPts val="800"/>
              </a:spcAft>
              <a:defRPr sz="1800"/>
            </a:pPr>
            <a:r>
              <a:t>how much MORE energy does Earth absorb?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1 | 20 Points | ~18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ALBEDO EFFECT INVESTIGATION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WHAT YOU'LL DO:</a:t>
            </a:r>
          </a:p>
          <a:p>
            <a:pPr>
              <a:spcAft>
                <a:spcPts val="800"/>
              </a:spcAft>
              <a:defRPr sz="1800"/>
            </a:pPr>
            <a:r>
              <a:t>1. Compare albedo values for different surfaces (4 min)</a:t>
            </a:r>
          </a:p>
          <a:p>
            <a:pPr>
              <a:spcAft>
                <a:spcPts val="800"/>
              </a:spcAft>
              <a:defRPr sz="1800"/>
            </a:pPr>
            <a:r>
              <a:t>2. Calculate energy absorption differences (5 min)</a:t>
            </a:r>
          </a:p>
          <a:p>
            <a:pPr>
              <a:spcAft>
                <a:spcPts val="800"/>
              </a:spcAft>
              <a:defRPr sz="1800"/>
            </a:pPr>
            <a:r>
              <a:t>3. Model ice-albedo feedback loop (5 min)</a:t>
            </a:r>
          </a:p>
          <a:p>
            <a:pPr>
              <a:spcAft>
                <a:spcPts val="800"/>
              </a:spcAft>
              <a:defRPr sz="1800"/>
            </a:pPr>
            <a:r>
              <a:t>4. Answer analysis questions (4 min)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RESOURCE: Albedo data table + Feedback diagram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PREDICT FIRST: 'I think high albedo surfaces will...'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1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CHECK YOUR WORK: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Did you explain WHY white surfaces stay cool?</a:t>
            </a:r>
          </a:p>
          <a:p>
            <a:pPr>
              <a:spcAft>
                <a:spcPts val="800"/>
              </a:spcAft>
              <a:defRPr sz="1800"/>
            </a:pPr>
            <a:r>
              <a:t>  (Reflect light → less energy absorbed)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Did you draw the feedback loop with ARROWS?</a:t>
            </a:r>
          </a:p>
          <a:p>
            <a:pPr>
              <a:spcAft>
                <a:spcPts val="800"/>
              </a:spcAft>
              <a:defRPr sz="1800"/>
            </a:pPr>
            <a:r>
              <a:t>  (Ice melts → Ocean exposed → Absorbs heat → More melting)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Did you use the word ALBEDO correctly?</a:t>
            </a:r>
          </a:p>
          <a:p>
            <a:pPr>
              <a:spcAft>
                <a:spcPts val="800"/>
              </a:spcAft>
              <a:defRPr sz="1800"/>
            </a:pPr>
            <a:r>
              <a:t>  (Albedo = reflection, NOT absorption)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COMMON MISTAKE: Saying 'positive feedback is good'</a:t>
            </a:r>
          </a:p>
          <a:p>
            <a:pPr>
              <a:spcAft>
                <a:spcPts val="800"/>
              </a:spcAft>
              <a:defRPr sz="1800"/>
            </a:pPr>
            <a:r>
              <a:t>→ Positive means AMPLIFYING, not beneficial!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1 Exemplar: Strong vs.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WEAK: 'Ice reflects and ocean absorbs. This causes warming.'</a:t>
            </a:r>
          </a:p>
          <a:p>
            <a:pPr>
              <a:spcAft>
                <a:spcPts val="800"/>
              </a:spcAft>
              <a:defRPr sz="1800"/>
            </a:pPr>
            <a:r>
              <a:t>  Problem: No feedback loop, no quantification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MEDIUM: 'When ice melts, water absorbs heat, causing more melting.'</a:t>
            </a:r>
          </a:p>
          <a:p>
            <a:pPr>
              <a:spcAft>
                <a:spcPts val="800"/>
              </a:spcAft>
              <a:defRPr sz="1800"/>
            </a:pPr>
            <a:r>
              <a:t>  Better but: No albedo numbers, no 'positive feedback' term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STRONG: 'Ice has albedo 0.9 (reflects 90%), ocean has 0.06</a:t>
            </a:r>
          </a:p>
          <a:p>
            <a:pPr>
              <a:spcAft>
                <a:spcPts val="800"/>
              </a:spcAft>
              <a:defRPr sz="1800"/>
            </a:pPr>
            <a:r>
              <a:t>  (reflects 6%). When ice melts, exposed ocean absorbs 84%</a:t>
            </a:r>
          </a:p>
          <a:p>
            <a:pPr>
              <a:spcAft>
                <a:spcPts val="800"/>
              </a:spcAft>
              <a:defRPr sz="1800"/>
            </a:pPr>
            <a:r>
              <a:t>  more solar energy. This extra heat melts MORE ice,</a:t>
            </a:r>
          </a:p>
          <a:p>
            <a:pPr>
              <a:spcAft>
                <a:spcPts val="800"/>
              </a:spcAft>
              <a:defRPr sz="1800"/>
            </a:pPr>
            <a:r>
              <a:t>  exposing MORE ocean, creating a positive feedback loop</a:t>
            </a:r>
          </a:p>
          <a:p>
            <a:pPr>
              <a:spcAft>
                <a:spcPts val="800"/>
              </a:spcAft>
              <a:defRPr sz="1800"/>
            </a:pPr>
            <a:r>
              <a:t>  that accelerates warming.'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INCLUDES: Albedo values, %, feedback loop, 'accelerates'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Day 1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NOTECARD EXIT: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Write the ICE-ALBEDO FEEDBACK LOOP as a chain: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_____ melts → _____ exposed → _____ absorbed →</a:t>
            </a:r>
          </a:p>
          <a:p>
            <a:pPr>
              <a:spcAft>
                <a:spcPts val="800"/>
              </a:spcAft>
              <a:defRPr sz="1800"/>
            </a:pPr>
            <a:r>
              <a:t>More _____ → More _____ exposed → ...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Then answer:</a:t>
            </a:r>
          </a:p>
          <a:p>
            <a:pPr>
              <a:spcAft>
                <a:spcPts val="800"/>
              </a:spcAft>
              <a:defRPr sz="1800"/>
            </a:pPr>
            <a:r>
              <a:t>Why is this called a POSITIVE feedback loop?</a:t>
            </a:r>
          </a:p>
          <a:p>
            <a:pPr>
              <a:spcAft>
                <a:spcPts val="800"/>
              </a:spcAft>
              <a:defRPr sz="1800"/>
            </a:pPr>
            <a:r>
              <a:t>(Hint: It's NOT because it's good!)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Day 1 Complete: 32/100 points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WEDNESDAY FLEX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IF you have class today:</a:t>
            </a:r>
          </a:p>
          <a:p>
            <a:pPr>
              <a:spcAft>
                <a:spcPts val="800"/>
              </a:spcAft>
              <a:defRPr sz="1800"/>
            </a:pPr>
            <a:r>
              <a:t>  • Station 1 Deep Dive: Calculate total energy difference</a:t>
            </a:r>
          </a:p>
          <a:p>
            <a:pPr>
              <a:spcAft>
                <a:spcPts val="800"/>
              </a:spcAft>
              <a:defRPr sz="1800"/>
            </a:pPr>
            <a:r>
              <a:t>  • Extension: Research other positive feedback loops</a:t>
            </a:r>
          </a:p>
          <a:p>
            <a:pPr>
              <a:spcAft>
                <a:spcPts val="800"/>
              </a:spcAft>
              <a:defRPr sz="1800"/>
            </a:pPr>
            <a:r>
              <a:t>  • Peer teaching: Explain ice-albedo to a partner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IF you don't have class today:</a:t>
            </a:r>
          </a:p>
          <a:p>
            <a:pPr>
              <a:spcAft>
                <a:spcPts val="800"/>
              </a:spcAft>
              <a:defRPr sz="1800"/>
            </a:pPr>
            <a:r>
              <a:t>  • Canvas Assignment: 'Ice-Albedo Review' auto-posted</a:t>
            </a:r>
          </a:p>
          <a:p>
            <a:pPr>
              <a:spcAft>
                <a:spcPts val="800"/>
              </a:spcAft>
              <a:defRPr sz="1800"/>
            </a:pPr>
            <a:r>
              <a:t>  • Self-paced Station 1 remediation available</a:t>
            </a:r>
          </a:p>
          <a:p>
            <a:pPr>
              <a:spcAft>
                <a:spcPts val="800"/>
              </a:spcAft>
              <a:defRPr sz="1800"/>
            </a:pPr>
            <a:r>
              <a:t>  • Watch: 'Feedback Loops Explained' video (10 min)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Either way: Come to Day 2 ready for Station 2!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Station 2 + Station 3 + Exit | Student-Centered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Where We Left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DAY 1 RECAP (30 seconds):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Albedo = fraction of light REFLECTED</a:t>
            </a:r>
          </a:p>
          <a:p>
            <a:pPr>
              <a:spcAft>
                <a:spcPts val="800"/>
              </a:spcAft>
              <a:defRPr sz="1800"/>
            </a:pPr>
            <a:r>
              <a:t>✓ Ice-albedo feedback: Melting → More absorption → More melting</a:t>
            </a:r>
          </a:p>
          <a:p>
            <a:pPr>
              <a:spcAft>
                <a:spcPts val="800"/>
              </a:spcAft>
              <a:defRPr sz="1800"/>
            </a:pPr>
            <a:r>
              <a:t>✓ Positive feedback = AMPLIFYING (not 'good'!)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TODAY'S FOCUS:</a:t>
            </a:r>
          </a:p>
          <a:p>
            <a:pPr>
              <a:spcAft>
                <a:spcPts val="800"/>
              </a:spcAft>
              <a:defRPr sz="1800"/>
            </a:pPr>
            <a:r>
              <a:t>  • Station 2: Carbon sinks (another feedback!)</a:t>
            </a:r>
          </a:p>
          <a:p>
            <a:pPr>
              <a:spcAft>
                <a:spcPts val="800"/>
              </a:spcAft>
              <a:defRPr sz="1800"/>
            </a:pPr>
            <a:r>
              <a:t>  • Station 3: Design challenge</a:t>
            </a:r>
          </a:p>
          <a:p>
            <a:pPr>
              <a:spcAft>
                <a:spcPts val="800"/>
              </a:spcAft>
              <a:defRPr sz="1800"/>
            </a:pPr>
            <a:r>
              <a:t>  • Exit Ticket: Put it all together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Day 2 Forms: Station 2 (20) + Station 3 (25) + Exit (23) = 68 pts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2 | 20 Points | ~15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CARBON SINK ANALYSIS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WHAT YOU'LL DO:</a:t>
            </a:r>
          </a:p>
          <a:p>
            <a:pPr>
              <a:spcAft>
                <a:spcPts val="800"/>
              </a:spcAft>
              <a:defRPr sz="1800"/>
            </a:pPr>
            <a:r>
              <a:t>1. Analyze ocean CO2 absorption data (4 min)</a:t>
            </a:r>
          </a:p>
          <a:p>
            <a:pPr>
              <a:spcAft>
                <a:spcPts val="800"/>
              </a:spcAft>
              <a:defRPr sz="1800"/>
            </a:pPr>
            <a:r>
              <a:t>2. Identify how temperature affects absorption (4 min)</a:t>
            </a:r>
          </a:p>
          <a:p>
            <a:pPr>
              <a:spcAft>
                <a:spcPts val="800"/>
              </a:spcAft>
              <a:defRPr sz="1800"/>
            </a:pPr>
            <a:r>
              <a:t>3. Predict: What happens if oceans warm? (4 min)</a:t>
            </a:r>
          </a:p>
          <a:p>
            <a:pPr>
              <a:spcAft>
                <a:spcPts val="800"/>
              </a:spcAft>
              <a:defRPr sz="1800"/>
            </a:pPr>
            <a:r>
              <a:t>4. Draw the carbon sink feedback loop (3 min)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KEY CONCEPT: Warm water absorbs LESS CO2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PREDICT: 'If oceans warm, I think CO2 levels will...'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Carbon Sink Feedback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NORMAL: Oceans absorb ~30% of our CO2 emissions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BUT: Warm water holds LESS dissolved gas</a:t>
            </a:r>
          </a:p>
          <a:p>
            <a:pPr>
              <a:spcAft>
                <a:spcPts val="800"/>
              </a:spcAft>
              <a:defRPr sz="1800"/>
            </a:pPr>
            <a:r>
              <a:t>(Think: Why do warm sodas go flat faster?)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THE CHAIN:</a:t>
            </a:r>
          </a:p>
          <a:p>
            <a:pPr>
              <a:spcAft>
                <a:spcPts val="800"/>
              </a:spcAft>
              <a:defRPr sz="1800"/>
            </a:pPr>
            <a:r>
              <a:t>1. Warming occurs → Ocean temperature rises</a:t>
            </a:r>
          </a:p>
          <a:p>
            <a:pPr>
              <a:spcAft>
                <a:spcPts val="800"/>
              </a:spcAft>
              <a:defRPr sz="1800"/>
            </a:pPr>
            <a:r>
              <a:t>2. Warm ocean absorbs LESS CO2</a:t>
            </a:r>
          </a:p>
          <a:p>
            <a:pPr>
              <a:spcAft>
                <a:spcPts val="800"/>
              </a:spcAft>
              <a:defRPr sz="1800"/>
            </a:pPr>
            <a:r>
              <a:t>3. MORE CO2 stays in atmosphere</a:t>
            </a:r>
          </a:p>
          <a:p>
            <a:pPr>
              <a:spcAft>
                <a:spcPts val="800"/>
              </a:spcAft>
              <a:defRPr sz="1800"/>
            </a:pPr>
            <a:r>
              <a:t>4. More CO2 → More greenhouse effect → More warming</a:t>
            </a:r>
          </a:p>
          <a:p>
            <a:pPr>
              <a:spcAft>
                <a:spcPts val="800"/>
              </a:spcAft>
              <a:defRPr sz="1800"/>
            </a:pPr>
            <a:r>
              <a:t>5. REPEAT: Another positive feedback!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This is CARBON SINK SATURATION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2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✓ Did you explain WHY warm water absorbs less CO2?</a:t>
            </a:r>
          </a:p>
          <a:p>
            <a:pPr>
              <a:spcAft>
                <a:spcPts val="800"/>
              </a:spcAft>
              <a:defRPr sz="1800"/>
            </a:pPr>
            <a:r>
              <a:t>  (Gas solubility decreases with temperature)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Did you connect to Week 1 greenhouse effect?</a:t>
            </a:r>
          </a:p>
          <a:p>
            <a:pPr>
              <a:spcAft>
                <a:spcPts val="800"/>
              </a:spcAft>
              <a:defRPr sz="1800"/>
            </a:pPr>
            <a:r>
              <a:t>  (More CO2 → More IR absorption → More warming)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✓ Did you identify this as ANOTHER positive feedback?</a:t>
            </a:r>
          </a:p>
          <a:p>
            <a:pPr>
              <a:spcAft>
                <a:spcPts val="800"/>
              </a:spcAft>
              <a:defRPr sz="1800"/>
            </a:pPr>
            <a:r>
              <a:t>  (Warming → Less absorption → More CO2 → More warming)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TURN &amp; TALK: How do ice-albedo and carbon sink</a:t>
            </a:r>
          </a:p>
          <a:p>
            <a:pPr>
              <a:spcAft>
                <a:spcPts val="800"/>
              </a:spcAft>
              <a:defRPr sz="1800"/>
            </a:pPr>
            <a:r>
              <a:t>feedbacks work TOGETHER?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3 | 25 Points | ~20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ENGINEERING CARBON CAPTURE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DESIGN CHALLENGE:</a:t>
            </a:r>
          </a:p>
          <a:p>
            <a:pPr>
              <a:spcAft>
                <a:spcPts val="800"/>
              </a:spcAft>
              <a:defRPr sz="1800"/>
            </a:pPr>
            <a:r>
              <a:t>Propose a system to REMOVE CO2 from atmosphere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CONSTRAINTS:</a:t>
            </a:r>
          </a:p>
          <a:p>
            <a:pPr>
              <a:spcAft>
                <a:spcPts val="800"/>
              </a:spcAft>
              <a:defRPr sz="1800"/>
            </a:pPr>
            <a:r>
              <a:t>  • Must explain WHERE carbon goes (conservation!)</a:t>
            </a:r>
          </a:p>
          <a:p>
            <a:pPr>
              <a:spcAft>
                <a:spcPts val="800"/>
              </a:spcAft>
              <a:defRPr sz="1800"/>
            </a:pPr>
            <a:r>
              <a:t>  • Must address feedback loop (does it help?)</a:t>
            </a:r>
          </a:p>
          <a:p>
            <a:pPr>
              <a:spcAft>
                <a:spcPts val="800"/>
              </a:spcAft>
              <a:defRPr sz="1800"/>
            </a:pPr>
            <a:r>
              <a:t>  • Must consider scale (how much CO2?)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IDEAS: Trees, ocean fertilization, direct capture,</a:t>
            </a:r>
          </a:p>
          <a:p>
            <a:pPr>
              <a:spcAft>
                <a:spcPts val="800"/>
              </a:spcAft>
              <a:defRPr sz="1800"/>
            </a:pPr>
            <a:r>
              <a:t>enhanced weathering, biochar...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SKETCH your design on notecard FIRST!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Station 3: Strong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WEAK: 'Plant trees because they absorb CO2.'</a:t>
            </a:r>
          </a:p>
          <a:p>
            <a:pPr>
              <a:spcAft>
                <a:spcPts val="800"/>
              </a:spcAft>
              <a:defRPr sz="1800"/>
            </a:pPr>
            <a:r>
              <a:t>  Problem: No mechanism, no scale, no conservation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STRONG: 'Trees absorb CO2 through photosynthesis</a:t>
            </a:r>
          </a:p>
          <a:p>
            <a:pPr>
              <a:spcAft>
                <a:spcPts val="800"/>
              </a:spcAft>
              <a:defRPr sz="1800"/>
            </a:pPr>
            <a:r>
              <a:t>  (6CO2 + 6H2O → C6H12O6 + 6O2).</a:t>
            </a:r>
          </a:p>
          <a:p>
            <a:pPr>
              <a:spcAft>
                <a:spcPts val="800"/>
              </a:spcAft>
              <a:defRPr sz="1800"/>
            </a:pPr>
            <a:r>
              <a:t>  Carbon atoms become part of wood (cellulose).</a:t>
            </a:r>
          </a:p>
          <a:p>
            <a:pPr>
              <a:spcAft>
                <a:spcPts val="800"/>
              </a:spcAft>
              <a:defRPr sz="1800"/>
            </a:pPr>
            <a:r>
              <a:t>  One tree stores ~48 lbs CO2/year.</a:t>
            </a:r>
          </a:p>
          <a:p>
            <a:pPr>
              <a:spcAft>
                <a:spcPts val="800"/>
              </a:spcAft>
              <a:defRPr sz="1800"/>
            </a:pPr>
            <a:r>
              <a:t>  To offset 1 person's emissions (16 tons/year),</a:t>
            </a:r>
          </a:p>
          <a:p>
            <a:pPr>
              <a:spcAft>
                <a:spcPts val="800"/>
              </a:spcAft>
              <a:defRPr sz="1800"/>
            </a:pPr>
            <a:r>
              <a:t>  we need ~330 trees per person.</a:t>
            </a:r>
          </a:p>
          <a:p>
            <a:pPr>
              <a:spcAft>
                <a:spcPts val="800"/>
              </a:spcAft>
              <a:defRPr sz="1800"/>
            </a:pPr>
            <a:r>
              <a:t>  This breaks the feedback by REMOVING CO2.'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INCLUDES: Mechanism, equation, quantification, feedback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EXIT TICKET | 23 Points | ~15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WHAT YOU'LL SHOW:</a:t>
            </a:r>
          </a:p>
          <a:p>
            <a:pPr>
              <a:spcAft>
                <a:spcPts val="800"/>
              </a:spcAft>
              <a:defRPr sz="1800"/>
            </a:pPr>
            <a:r>
              <a:t>1. Explain ice-albedo feedback (5 pts)</a:t>
            </a:r>
          </a:p>
          <a:p>
            <a:pPr>
              <a:spcAft>
                <a:spcPts val="800"/>
              </a:spcAft>
              <a:defRPr sz="1800"/>
            </a:pPr>
            <a:r>
              <a:t>2. Explain carbon sink feedback (5 pts)</a:t>
            </a:r>
          </a:p>
          <a:p>
            <a:pPr>
              <a:spcAft>
                <a:spcPts val="800"/>
              </a:spcAft>
              <a:defRPr sz="1800"/>
            </a:pPr>
            <a:r>
              <a:t>3. Connect to Week 1 greenhouse effect (4 pts)</a:t>
            </a:r>
          </a:p>
          <a:p>
            <a:pPr>
              <a:spcAft>
                <a:spcPts val="800"/>
              </a:spcAft>
              <a:defRPr sz="1800"/>
            </a:pPr>
            <a:r>
              <a:t>4. Predict: Two feedbacks together (4 pts)</a:t>
            </a:r>
          </a:p>
          <a:p>
            <a:pPr>
              <a:spcAft>
                <a:spcPts val="800"/>
              </a:spcAft>
              <a:defRPr sz="1800"/>
            </a:pPr>
            <a:r>
              <a:t>5. Use correct terminology (5 pts)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CHECK BEFORE SUBMIT:</a:t>
            </a:r>
          </a:p>
          <a:p>
            <a:pPr>
              <a:spcAft>
                <a:spcPts val="800"/>
              </a:spcAft>
              <a:defRPr sz="1800"/>
            </a:pPr>
            <a:r>
              <a:t>  • Did you use 'positive feedback' correctly?</a:t>
            </a:r>
          </a:p>
          <a:p>
            <a:pPr>
              <a:spcAft>
                <a:spcPts val="800"/>
              </a:spcAft>
              <a:defRPr sz="1800"/>
            </a:pPr>
            <a:r>
              <a:t>  • Did you include albedo values?</a:t>
            </a:r>
          </a:p>
          <a:p>
            <a:pPr>
              <a:spcAft>
                <a:spcPts val="800"/>
              </a:spcAft>
              <a:defRPr sz="1800"/>
            </a:pPr>
            <a:r>
              <a:t>  • Did you connect to CO2 and greenhouse effect?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Total Today: 68 points | Total Week: 100 points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Week 2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ICE-ALBEDO: Melting → Dark surface → Absorbs heat → More melting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CARBON SINK: Warming → Less absorption → More CO2 → More warming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TOGETHER: Multiple positive feedbacks AMPLIFY each other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CONNECTION TO WEEK 1:</a:t>
            </a:r>
          </a:p>
          <a:p>
            <a:pPr>
              <a:spcAft>
                <a:spcPts val="800"/>
              </a:spcAft>
              <a:defRPr sz="1800"/>
            </a:pPr>
            <a:r>
              <a:t>  • Greenhouse effect (CO2 traps IR)</a:t>
            </a:r>
          </a:p>
          <a:p>
            <a:pPr>
              <a:spcAft>
                <a:spcPts val="800"/>
              </a:spcAft>
              <a:defRPr sz="1800"/>
            </a:pPr>
            <a:r>
              <a:t>  • Carbon conservation (atoms move, not destroyed)</a:t>
            </a:r>
          </a:p>
          <a:p>
            <a:pPr>
              <a:spcAft>
                <a:spcPts val="800"/>
              </a:spcAft>
              <a:defRPr sz="1800"/>
            </a:pPr>
            <a:r>
              <a:t>  • Bond energy (vibration, not breaking)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NOTECARD: One thing learned + One question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Next Week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WEEK 3: SYNTHESIS &amp; ASSESSMENT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You'll demonstrate mastery of:</a:t>
            </a:r>
          </a:p>
          <a:p>
            <a:pPr>
              <a:spcAft>
                <a:spcPts val="800"/>
              </a:spcAft>
              <a:defRPr sz="1800"/>
            </a:pPr>
            <a:r>
              <a:t>  • Greenhouse effect mechanism (Week 1)</a:t>
            </a:r>
          </a:p>
          <a:p>
            <a:pPr>
              <a:spcAft>
                <a:spcPts val="800"/>
              </a:spcAft>
              <a:defRPr sz="1800"/>
            </a:pPr>
            <a:r>
              <a:t>  • Feedback loops and tipping points (Week 2)</a:t>
            </a:r>
          </a:p>
          <a:p>
            <a:pPr>
              <a:spcAft>
                <a:spcPts val="800"/>
              </a:spcAft>
              <a:defRPr sz="1800"/>
            </a:pPr>
            <a:r>
              <a:t>  • Carbon conservation (Cycle 2 spiral)</a:t>
            </a:r>
          </a:p>
          <a:p>
            <a:pPr>
              <a:spcAft>
                <a:spcPts val="800"/>
              </a:spcAft>
              <a:defRPr sz="1800"/>
            </a:pPr>
            <a:r>
              <a:t>  • Bond energy misconception (Cycle 2 spiral)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STUDY TIP: Review your notecards from Week 1 &amp; 2!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'How do feedback loops accelerate climate change?'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