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WRITE first. TURN &amp; TALK. Cold call 2-3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CRITICAL: Check for Lamarckian thinking. Cold call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Homologous vs analogous is THE key distinction for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on notecard first. Listen for 'common ancestor'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CHAIN. Write on board. This is the pattern of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insight: Selection modifies, doesn't create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ANALOGOUS. Same function, completely different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confuse homo/analogous. Watch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vs structure - this is the key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for structural evidence, not just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notecards. Check for structure vs function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Wednesday rotation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- 30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Transitional = has features of BOTH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fossil shows INTERMEDIATE features. That's transitional.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Transitional fossils are PREDICTIONS of evolution that came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Fossilization requires specific conditions. Most organisms decompose.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reverses the reasoning - if evolution happened, what SHOULD we find?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prediction must explain WHY 'in between' helps survival.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Lamarckian check is critical. Watch for 'needed to'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notecards. Preview Week 3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synthesis question: Mechanism + Evidence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Evidence of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Grade 8 Science | Cycle 3 Week 2 | MS-LS4-4</a:t>
            </a:r>
            <a:br/>
            <a:r>
              <a:t>Rosche | Kairos Academies | 100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Hook + Station 1 | Direct Instruction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Whale Finger Mystery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Look at this X-ray of a whale's flipper.</a:t>
            </a:r>
          </a:p>
          <a:p>
            <a:pPr>
              <a:spcAft>
                <a:spcPts val="800"/>
              </a:spcAft>
              <a:defRPr sz="1800"/>
            </a:pPr>
            <a:r>
              <a:t>Inside that smooth flipper, there are BONES:</a:t>
            </a:r>
          </a:p>
          <a:p>
            <a:pPr>
              <a:spcAft>
                <a:spcPts val="800"/>
              </a:spcAft>
              <a:defRPr sz="1800"/>
            </a:pPr>
            <a:r>
              <a:t>  • Upper arm bone (humerus)</a:t>
            </a:r>
          </a:p>
          <a:p>
            <a:pPr>
              <a:spcAft>
                <a:spcPts val="800"/>
              </a:spcAft>
              <a:defRPr sz="1800"/>
            </a:pPr>
            <a:r>
              <a:t>  • Two forearm bones (radius and ulna)</a:t>
            </a:r>
          </a:p>
          <a:p>
            <a:pPr>
              <a:spcAft>
                <a:spcPts val="800"/>
              </a:spcAft>
              <a:defRPr sz="1800"/>
            </a:pPr>
            <a:r>
              <a:t>  • Wrist bones (carpals)</a:t>
            </a:r>
          </a:p>
          <a:p>
            <a:pPr>
              <a:spcAft>
                <a:spcPts val="800"/>
              </a:spcAft>
              <a:defRPr sz="1800"/>
            </a:pPr>
            <a:r>
              <a:t>  • FIVE FINGERS with knuckles!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But whales don't have hands. They swim.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MYSTERY: Why would a whale have finger bones?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QUICK WRITE: 30 seconds - What's your hypothesis?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Driving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evidence supports the claim that</a:t>
            </a:r>
          </a:p>
          <a:p>
            <a:pPr>
              <a:spcAft>
                <a:spcPts val="800"/>
              </a:spcAft>
              <a:defRPr sz="1800"/>
            </a:pPr>
            <a:r>
              <a:t>modern organisms share common ancestors?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WEEK 1 CONNECTION:</a:t>
            </a:r>
          </a:p>
          <a:p>
            <a:pPr>
              <a:spcAft>
                <a:spcPts val="800"/>
              </a:spcAft>
              <a:defRPr sz="1800"/>
            </a:pPr>
            <a:r>
              <a:t>You learned HOW natural selection works</a:t>
            </a:r>
          </a:p>
          <a:p>
            <a:pPr>
              <a:spcAft>
                <a:spcPts val="800"/>
              </a:spcAft>
              <a:defRPr sz="1800"/>
            </a:pPr>
            <a:r>
              <a:t>(variation → selection → survival → reproduction → change).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WEEK 2 QUESTION:</a:t>
            </a:r>
          </a:p>
          <a:p>
            <a:pPr>
              <a:spcAft>
                <a:spcPts val="800"/>
              </a:spcAft>
              <a:defRPr sz="1800"/>
            </a:pPr>
            <a:r>
              <a:t>What PROOF do we have that evolution happened?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Week 1 Review: Natural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✓ VARIATION exists in populations (before selection!)</a:t>
            </a:r>
          </a:p>
          <a:p>
            <a:pPr>
              <a:spcAft>
                <a:spcPts val="800"/>
              </a:spcAft>
              <a:defRPr sz="1800"/>
            </a:pPr>
            <a:r>
              <a:t>✓ Some variations affect SURVIVAL</a:t>
            </a:r>
          </a:p>
          <a:p>
            <a:pPr>
              <a:spcAft>
                <a:spcPts val="800"/>
              </a:spcAft>
              <a:defRPr sz="1800"/>
            </a:pPr>
            <a:r>
              <a:t>✓ Survivors REPRODUCE more → genes spread</a:t>
            </a:r>
          </a:p>
          <a:p>
            <a:pPr>
              <a:spcAft>
                <a:spcPts val="800"/>
              </a:spcAft>
              <a:defRPr sz="1800"/>
            </a:pPr>
            <a:r>
              <a:t>✓ POPULATIONS evolve, not individuals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LAMARCKIAN MISCONCEPTION CHECK: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WRONG: 'Giraffes stretched their necks, so babies had longer necks'</a:t>
            </a:r>
          </a:p>
          <a:p>
            <a:pPr>
              <a:spcAft>
                <a:spcPts val="800"/>
              </a:spcAft>
              <a:defRPr sz="1800"/>
            </a:pPr>
            <a:r>
              <a:t>RIGHT: 'Giraffes with longer neck genes survived better,</a:t>
            </a:r>
          </a:p>
          <a:p>
            <a:pPr>
              <a:spcAft>
                <a:spcPts val="800"/>
              </a:spcAft>
              <a:defRPr sz="1800"/>
            </a:pPr>
            <a:r>
              <a:t>        reproduced more, and passed genes to offspring'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KEY: You can't change your genes by trying!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 Learning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TARGET 1: Distinguish HOMOLOGOUS from ANALOGOUS structures</a:t>
            </a:r>
          </a:p>
          <a:p>
            <a:pPr>
              <a:spcAft>
                <a:spcPts val="800"/>
              </a:spcAft>
              <a:defRPr sz="1800"/>
            </a:pPr>
            <a:r>
              <a:t>  → Homologous = SAME bones, different function (common ancestor)</a:t>
            </a:r>
          </a:p>
          <a:p>
            <a:pPr>
              <a:spcAft>
                <a:spcPts val="800"/>
              </a:spcAft>
              <a:defRPr sz="1800"/>
            </a:pPr>
            <a:r>
              <a:t>  → Analogous = DIFFERENT bones, same function (no shared ancestor)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TARGET 2: Use anatomical evidence to infer relationships</a:t>
            </a:r>
          </a:p>
          <a:p>
            <a:pPr>
              <a:spcAft>
                <a:spcPts val="800"/>
              </a:spcAft>
              <a:defRPr sz="1800"/>
            </a:pPr>
            <a:r>
              <a:t>  → Similar bone patterns = related species</a:t>
            </a:r>
          </a:p>
          <a:p>
            <a:pPr>
              <a:spcAft>
                <a:spcPts val="800"/>
              </a:spcAft>
              <a:defRPr sz="1800"/>
            </a:pPr>
            <a:r>
              <a:t>  → The more similar, the more recent common ancestor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1 Forms: Hook (12 pts) + Station 1 (20 pts) = 32 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HOOK | 12 Points | ~10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Observe whale flipper bone structure (2 min)</a:t>
            </a:r>
          </a:p>
          <a:p>
            <a:pPr>
              <a:spcAft>
                <a:spcPts val="800"/>
              </a:spcAft>
              <a:defRPr sz="1800"/>
            </a:pPr>
            <a:r>
              <a:t>2. Compare to human arm bones (3 min)</a:t>
            </a:r>
          </a:p>
          <a:p>
            <a:pPr>
              <a:spcAft>
                <a:spcPts val="800"/>
              </a:spcAft>
              <a:defRPr sz="1800"/>
            </a:pPr>
            <a:r>
              <a:t>3. Propose hypothesis: Why same bones? (3 min)</a:t>
            </a:r>
          </a:p>
          <a:p>
            <a:pPr>
              <a:spcAft>
                <a:spcPts val="800"/>
              </a:spcAft>
              <a:defRPr sz="1800"/>
            </a:pPr>
            <a:r>
              <a:t>4. Submit in Google Form (2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OBSERVATION:</a:t>
            </a:r>
          </a:p>
          <a:p>
            <a:pPr>
              <a:spcAft>
                <a:spcPts val="800"/>
              </a:spcAft>
              <a:defRPr sz="1800"/>
            </a:pPr>
            <a:r>
              <a:t>  Same pattern: 1 bone → 2 bones → many small → 5 'fingers'</a:t>
            </a:r>
          </a:p>
          <a:p>
            <a:pPr>
              <a:spcAft>
                <a:spcPts val="800"/>
              </a:spcAft>
              <a:defRPr sz="1800"/>
            </a:pPr>
            <a:r>
              <a:t>  Human arm: humerus → radius/ulna → carpals → phalanges</a:t>
            </a:r>
          </a:p>
          <a:p>
            <a:pPr>
              <a:spcAft>
                <a:spcPts val="800"/>
              </a:spcAft>
              <a:defRPr sz="1800"/>
            </a:pPr>
            <a:r>
              <a:t>  Whale flipper: SAME BONES, different shape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START: 'I think whales have finger bones because...'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Hook Debrief: The Reasoning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Why would a whale have finger bones it doesn't use?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REASONING CHAIN:</a:t>
            </a:r>
          </a:p>
          <a:p>
            <a:pPr>
              <a:spcAft>
                <a:spcPts val="800"/>
              </a:spcAft>
              <a:defRPr sz="1800"/>
            </a:pPr>
            <a:r>
              <a:t>1. Whales have bones identical to human arm pattern</a:t>
            </a:r>
          </a:p>
          <a:p>
            <a:pPr>
              <a:spcAft>
                <a:spcPts val="800"/>
              </a:spcAft>
              <a:defRPr sz="1800"/>
            </a:pPr>
            <a:r>
              <a:t>2. Whales don't USE fingers - they're hidden inside flipper</a:t>
            </a:r>
          </a:p>
          <a:p>
            <a:pPr>
              <a:spcAft>
                <a:spcPts val="800"/>
              </a:spcAft>
              <a:defRPr sz="1800"/>
            </a:pPr>
            <a:r>
              <a:t>3. Natural selection doesn't CREATE new structures...</a:t>
            </a:r>
          </a:p>
          <a:p>
            <a:pPr>
              <a:spcAft>
                <a:spcPts val="800"/>
              </a:spcAft>
              <a:defRPr sz="1800"/>
            </a:pPr>
            <a:r>
              <a:t>4. ...it MODIFIES existing ones</a:t>
            </a:r>
          </a:p>
          <a:p>
            <a:pPr>
              <a:spcAft>
                <a:spcPts val="800"/>
              </a:spcAft>
              <a:defRPr sz="1800"/>
            </a:pPr>
            <a:r>
              <a:t>5. If whales have arm bones, they must have INHERITED them</a:t>
            </a:r>
          </a:p>
          <a:p>
            <a:pPr>
              <a:spcAft>
                <a:spcPts val="800"/>
              </a:spcAft>
              <a:defRPr sz="1800"/>
            </a:pPr>
            <a:r>
              <a:t>6. From an ANCESTOR that DID have arms</a:t>
            </a:r>
          </a:p>
          <a:p>
            <a:pPr>
              <a:spcAft>
                <a:spcPts val="800"/>
              </a:spcAft>
              <a:defRPr sz="1800"/>
            </a:pPr>
            <a:r>
              <a:t>7. CONCLUSION: Whales and humans share a common ancestor!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This is evidence FOR evolution, not against it!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Direct Instruction: Homologous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HOMOLOGOUS STRUCTURES:</a:t>
            </a:r>
          </a:p>
          <a:p>
            <a:pPr>
              <a:spcAft>
                <a:spcPts val="800"/>
              </a:spcAft>
              <a:defRPr sz="1800"/>
            </a:pPr>
            <a:r>
              <a:t>Same bones + Different function = Common ancestor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EXAMPLES (all have: humerus, radius, ulna, carpals, digits):</a:t>
            </a:r>
          </a:p>
          <a:p>
            <a:pPr>
              <a:spcAft>
                <a:spcPts val="800"/>
              </a:spcAft>
              <a:defRPr sz="1800"/>
            </a:pPr>
            <a:r>
              <a:t>  • Human arm → grabbing, lifting</a:t>
            </a:r>
          </a:p>
          <a:p>
            <a:pPr>
              <a:spcAft>
                <a:spcPts val="800"/>
              </a:spcAft>
              <a:defRPr sz="1800"/>
            </a:pPr>
            <a:r>
              <a:t>  • Whale flipper → swimming</a:t>
            </a:r>
          </a:p>
          <a:p>
            <a:pPr>
              <a:spcAft>
                <a:spcPts val="800"/>
              </a:spcAft>
              <a:defRPr sz="1800"/>
            </a:pPr>
            <a:r>
              <a:t>  • Bat wing → flying</a:t>
            </a:r>
          </a:p>
          <a:p>
            <a:pPr>
              <a:spcAft>
                <a:spcPts val="800"/>
              </a:spcAft>
              <a:defRPr sz="1800"/>
            </a:pPr>
            <a:r>
              <a:t>  • Cat leg → running</a:t>
            </a:r>
          </a:p>
          <a:p>
            <a:pPr>
              <a:spcAft>
                <a:spcPts val="800"/>
              </a:spcAft>
              <a:defRPr sz="1800"/>
            </a:pPr>
            <a:r>
              <a:t>  • Seal flipper → swimming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SAME underlying structure → inherited from SAME ancestor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Natural selection MODIFIED the bones for different uses,</a:t>
            </a:r>
          </a:p>
          <a:p>
            <a:pPr>
              <a:spcAft>
                <a:spcPts val="800"/>
              </a:spcAft>
              <a:defRPr sz="1800"/>
            </a:pPr>
            <a:r>
              <a:t>but couldn't erase the common pattern!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Direct Instruction: Analogous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ANALOGOUS STRUCTURES:</a:t>
            </a:r>
          </a:p>
          <a:p>
            <a:pPr>
              <a:spcAft>
                <a:spcPts val="800"/>
              </a:spcAft>
              <a:defRPr sz="1800"/>
            </a:pPr>
            <a:r>
              <a:t>Different bones + Same function = NO common ancestor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EXAMPLE: Wings</a:t>
            </a:r>
          </a:p>
          <a:p>
            <a:pPr>
              <a:spcAft>
                <a:spcPts val="800"/>
              </a:spcAft>
              <a:defRPr sz="1800"/>
            </a:pPr>
            <a:r>
              <a:t>  • Bird wing = modified ARM bones (vertebrate pattern)</a:t>
            </a:r>
          </a:p>
          <a:p>
            <a:pPr>
              <a:spcAft>
                <a:spcPts val="800"/>
              </a:spcAft>
              <a:defRPr sz="1800"/>
            </a:pPr>
            <a:r>
              <a:t>  • Insect wing = extension of exoskeleton (no bones!)</a:t>
            </a:r>
          </a:p>
          <a:p>
            <a:pPr>
              <a:spcAft>
                <a:spcPts val="800"/>
              </a:spcAft>
              <a:defRPr sz="1800"/>
            </a:pPr>
            <a:r>
              <a:t>  • Same function (flight) but DIFFERENT structure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This is CONVERGENT EVOLUTION:</a:t>
            </a:r>
          </a:p>
          <a:p>
            <a:pPr>
              <a:spcAft>
                <a:spcPts val="800"/>
              </a:spcAft>
              <a:defRPr sz="1800"/>
            </a:pPr>
            <a:r>
              <a:t>  Different starting points → similar solutions</a:t>
            </a:r>
          </a:p>
          <a:p>
            <a:pPr>
              <a:spcAft>
                <a:spcPts val="800"/>
              </a:spcAft>
              <a:defRPr sz="1800"/>
            </a:pPr>
            <a:r>
              <a:t>  NOT evidence of common ancestry!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QUICK CHECK:</a:t>
            </a:r>
          </a:p>
          <a:p>
            <a:pPr>
              <a:spcAft>
                <a:spcPts val="800"/>
              </a:spcAft>
              <a:defRPr sz="1800"/>
            </a:pPr>
            <a:r>
              <a:t>Dolphin flipper vs. shark fin - homologous or analogous?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| 20 Points | ~18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COMPARATIVE ANATOMY ANALYSIS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Compare bone diagrams for 5 vertebrates (5 min)</a:t>
            </a:r>
          </a:p>
          <a:p>
            <a:pPr>
              <a:spcAft>
                <a:spcPts val="800"/>
              </a:spcAft>
              <a:defRPr sz="1800"/>
            </a:pPr>
            <a:r>
              <a:t>2. Identify homologous structures (4 min)</a:t>
            </a:r>
          </a:p>
          <a:p>
            <a:pPr>
              <a:spcAft>
                <a:spcPts val="800"/>
              </a:spcAft>
              <a:defRPr sz="1800"/>
            </a:pPr>
            <a:r>
              <a:t>3. Identify analogous structures (4 min)</a:t>
            </a:r>
          </a:p>
          <a:p>
            <a:pPr>
              <a:spcAft>
                <a:spcPts val="800"/>
              </a:spcAft>
              <a:defRPr sz="1800"/>
            </a:pPr>
            <a:r>
              <a:t>4. Infer evolutionary relationships (5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RESOURCE: Vertebrate limb comparison diagram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PREDICT FIRST: 'I think the most closely related pair is...'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CHECK YOUR UNDERSTANDING: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HOMOLOGOUS = Same structure, different function</a:t>
            </a:r>
          </a:p>
          <a:p>
            <a:pPr>
              <a:spcAft>
                <a:spcPts val="800"/>
              </a:spcAft>
              <a:defRPr sz="1800"/>
            </a:pPr>
            <a:r>
              <a:t>  → Evidence OF common ancestry</a:t>
            </a:r>
          </a:p>
          <a:p>
            <a:pPr>
              <a:spcAft>
                <a:spcPts val="800"/>
              </a:spcAft>
              <a:defRPr sz="1800"/>
            </a:pPr>
            <a:r>
              <a:t>  → Example: Human arm, whale flipper, bat wing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ANALOGOUS = Different structure, same function</a:t>
            </a:r>
          </a:p>
          <a:p>
            <a:pPr>
              <a:spcAft>
                <a:spcPts val="800"/>
              </a:spcAft>
              <a:defRPr sz="1800"/>
            </a:pPr>
            <a:r>
              <a:t>  → NOT evidence of common ancestry</a:t>
            </a:r>
          </a:p>
          <a:p>
            <a:pPr>
              <a:spcAft>
                <a:spcPts val="800"/>
              </a:spcAft>
              <a:defRPr sz="1800"/>
            </a:pPr>
            <a:r>
              <a:t>  → Example: Bird wing, insect wing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COMMON MISTAKE:</a:t>
            </a:r>
          </a:p>
          <a:p>
            <a:pPr>
              <a:spcAft>
                <a:spcPts val="800"/>
              </a:spcAft>
              <a:defRPr sz="1800"/>
            </a:pPr>
            <a:r>
              <a:t>'They both swim, so they're related'</a:t>
            </a:r>
          </a:p>
          <a:p>
            <a:pPr>
              <a:spcAft>
                <a:spcPts val="800"/>
              </a:spcAft>
              <a:defRPr sz="1800"/>
            </a:pPr>
            <a:r>
              <a:t>→ Function doesn't prove relationship! Structure does!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Exemplar: Strong vs.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QUESTION: Are dolphin flipper and shark fin evidence of common ancestry?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WEAK: 'Yes, they both help with swimming.'</a:t>
            </a:r>
          </a:p>
          <a:p>
            <a:pPr>
              <a:spcAft>
                <a:spcPts val="800"/>
              </a:spcAft>
              <a:defRPr sz="1800"/>
            </a:pPr>
            <a:r>
              <a:t>  Problem: Only mentions function, not structure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MEDIUM: 'No, they're different because dolphins are mammals.'</a:t>
            </a:r>
          </a:p>
          <a:p>
            <a:pPr>
              <a:spcAft>
                <a:spcPts val="800"/>
              </a:spcAft>
              <a:defRPr sz="1800"/>
            </a:pPr>
            <a:r>
              <a:t>  Better but: Doesn't explain the structural difference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STRONG: 'No, they are ANALOGOUS structures. The dolphin flipper</a:t>
            </a:r>
          </a:p>
          <a:p>
            <a:pPr>
              <a:spcAft>
                <a:spcPts val="800"/>
              </a:spcAft>
              <a:defRPr sz="1800"/>
            </a:pPr>
            <a:r>
              <a:t>  contains humerus, radius, ulna, and phalanges (homologous</a:t>
            </a:r>
          </a:p>
          <a:p>
            <a:pPr>
              <a:spcAft>
                <a:spcPts val="800"/>
              </a:spcAft>
              <a:defRPr sz="1800"/>
            </a:pPr>
            <a:r>
              <a:t>  to human arm). The shark fin has cartilage rods with NO</a:t>
            </a:r>
          </a:p>
          <a:p>
            <a:pPr>
              <a:spcAft>
                <a:spcPts val="800"/>
              </a:spcAft>
              <a:defRPr sz="1800"/>
            </a:pPr>
            <a:r>
              <a:t>  corresponding bones. Same function, different structure =</a:t>
            </a:r>
          </a:p>
          <a:p>
            <a:pPr>
              <a:spcAft>
                <a:spcPts val="800"/>
              </a:spcAft>
              <a:defRPr sz="1800"/>
            </a:pPr>
            <a:r>
              <a:t>  convergent evolution, not common ancestry.'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INCLUDES: Correct term, bone names, reasoning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NOTECARD EXIT: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Draw two columns: HOMOLOGOUS | ANALOGOUS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Fill in:</a:t>
            </a:r>
          </a:p>
          <a:p>
            <a:pPr>
              <a:spcAft>
                <a:spcPts val="800"/>
              </a:spcAft>
              <a:defRPr sz="1800"/>
            </a:pPr>
            <a:r>
              <a:t>  • Definition</a:t>
            </a:r>
          </a:p>
          <a:p>
            <a:pPr>
              <a:spcAft>
                <a:spcPts val="800"/>
              </a:spcAft>
              <a:defRPr sz="1800"/>
            </a:pPr>
            <a:r>
              <a:t>  • One example</a:t>
            </a:r>
          </a:p>
          <a:p>
            <a:pPr>
              <a:spcAft>
                <a:spcPts val="800"/>
              </a:spcAft>
              <a:defRPr sz="1800"/>
            </a:pPr>
            <a:r>
              <a:t>  • What it proves about ancestry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Then answer:</a:t>
            </a:r>
          </a:p>
          <a:p>
            <a:pPr>
              <a:spcAft>
                <a:spcPts val="800"/>
              </a:spcAft>
              <a:defRPr sz="1800"/>
            </a:pPr>
            <a:r>
              <a:t>A bat wing and a butterfly wing are both used for flying.</a:t>
            </a:r>
          </a:p>
          <a:p>
            <a:pPr>
              <a:spcAft>
                <a:spcPts val="800"/>
              </a:spcAft>
              <a:defRPr sz="1800"/>
            </a:pPr>
            <a:r>
              <a:t>Are they homologous or analogous? Explain with evidence.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1 Complete: 32/100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WEDNESDAY FLEX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IF you have class today:</a:t>
            </a:r>
          </a:p>
          <a:p>
            <a:pPr>
              <a:spcAft>
                <a:spcPts val="800"/>
              </a:spcAft>
              <a:defRPr sz="1800"/>
            </a:pPr>
            <a:r>
              <a:t>  • Deep Dive: Predict bones in a penguin flipper</a:t>
            </a:r>
          </a:p>
          <a:p>
            <a:pPr>
              <a:spcAft>
                <a:spcPts val="800"/>
              </a:spcAft>
              <a:defRPr sz="1800"/>
            </a:pPr>
            <a:r>
              <a:t>  • Extension: Research vestigial structures</a:t>
            </a:r>
          </a:p>
          <a:p>
            <a:pPr>
              <a:spcAft>
                <a:spcPts val="800"/>
              </a:spcAft>
              <a:defRPr sz="1800"/>
            </a:pPr>
            <a:r>
              <a:t>  • Peer teaching: Quiz partner on homo/analogous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IF you don't have class today:</a:t>
            </a:r>
          </a:p>
          <a:p>
            <a:pPr>
              <a:spcAft>
                <a:spcPts val="800"/>
              </a:spcAft>
              <a:defRPr sz="1800"/>
            </a:pPr>
            <a:r>
              <a:t>  • Canvas Assignment: 'Structure vs Function Sort'</a:t>
            </a:r>
          </a:p>
          <a:p>
            <a:pPr>
              <a:spcAft>
                <a:spcPts val="800"/>
              </a:spcAft>
              <a:defRPr sz="1800"/>
            </a:pPr>
            <a:r>
              <a:t>  • Self-paced Station 1 remediation</a:t>
            </a:r>
          </a:p>
          <a:p>
            <a:pPr>
              <a:spcAft>
                <a:spcPts val="800"/>
              </a:spcAft>
              <a:defRPr sz="1800"/>
            </a:pPr>
            <a:r>
              <a:t>  • Watch: 'Homologous Structures Explained' (8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Either way: Come to Day 2 ready for fossils!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Station 2 + Station 3 + Exit | Student-Centered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Where We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DAY 1 RECAP (30 seconds):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HOMOLOGOUS = Same bones, different function → COMMON ANCESTOR</a:t>
            </a:r>
          </a:p>
          <a:p>
            <a:pPr>
              <a:spcAft>
                <a:spcPts val="800"/>
              </a:spcAft>
              <a:defRPr sz="1800"/>
            </a:pPr>
            <a:r>
              <a:t>✓ ANALOGOUS = Different structure, same function → NO relation</a:t>
            </a:r>
          </a:p>
          <a:p>
            <a:pPr>
              <a:spcAft>
                <a:spcPts val="800"/>
              </a:spcAft>
              <a:defRPr sz="1800"/>
            </a:pPr>
            <a:r>
              <a:t>✓ Natural selection MODIFIES existing structures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TODAY'S FOCUS:</a:t>
            </a:r>
          </a:p>
          <a:p>
            <a:pPr>
              <a:spcAft>
                <a:spcPts val="800"/>
              </a:spcAft>
              <a:defRPr sz="1800"/>
            </a:pPr>
            <a:r>
              <a:t>  • Station 2: FOSSIL evidence (transitional forms)</a:t>
            </a:r>
          </a:p>
          <a:p>
            <a:pPr>
              <a:spcAft>
                <a:spcPts val="800"/>
              </a:spcAft>
              <a:defRPr sz="1800"/>
            </a:pPr>
            <a:r>
              <a:t>  • Station 3: PREDICT transitional features</a:t>
            </a:r>
          </a:p>
          <a:p>
            <a:pPr>
              <a:spcAft>
                <a:spcPts val="800"/>
              </a:spcAft>
              <a:defRPr sz="1800"/>
            </a:pPr>
            <a:r>
              <a:t>  • Exit Ticket: Connect ALL evidence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2 Forms: Station 2 (20) + Station 3 (25) + Exit (23) = 68 pts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2 | 20 Points | ~15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FOSSIL RECORD INVESTIGATION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Study whale evolution fossil sequence (5 min)</a:t>
            </a:r>
          </a:p>
          <a:p>
            <a:pPr>
              <a:spcAft>
                <a:spcPts val="800"/>
              </a:spcAft>
              <a:defRPr sz="1800"/>
            </a:pPr>
            <a:r>
              <a:t>2. Identify TRANSITIONAL features (4 min)</a:t>
            </a:r>
          </a:p>
          <a:p>
            <a:pPr>
              <a:spcAft>
                <a:spcPts val="800"/>
              </a:spcAft>
              <a:defRPr sz="1800"/>
            </a:pPr>
            <a:r>
              <a:t>3. Explain what transitional fossils prove (4 min)</a:t>
            </a:r>
          </a:p>
          <a:p>
            <a:pPr>
              <a:spcAft>
                <a:spcPts val="800"/>
              </a:spcAft>
              <a:defRPr sz="1800"/>
            </a:pPr>
            <a:r>
              <a:t>4. Apply to other examples (2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WHALE EVOLUTION SEQUENCE:</a:t>
            </a:r>
          </a:p>
          <a:p>
            <a:pPr>
              <a:spcAft>
                <a:spcPts val="800"/>
              </a:spcAft>
              <a:defRPr sz="1800"/>
            </a:pPr>
            <a:r>
              <a:t>  Pakicetus (50 MYA) → Ambulocetus → Rodhocetus →</a:t>
            </a:r>
          </a:p>
          <a:p>
            <a:pPr>
              <a:spcAft>
                <a:spcPts val="800"/>
              </a:spcAft>
              <a:defRPr sz="1800"/>
            </a:pPr>
            <a:r>
              <a:t>  Basilosaurus → Modern whales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LOOK FOR: Features that are 'in between' forms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Whale Evolution: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PAKICETUS (50 MYA):</a:t>
            </a:r>
          </a:p>
          <a:p>
            <a:pPr>
              <a:spcAft>
                <a:spcPts val="800"/>
              </a:spcAft>
              <a:defRPr sz="1800"/>
            </a:pPr>
            <a:r>
              <a:t>  • 4 legs, could walk, lived on land</a:t>
            </a:r>
          </a:p>
          <a:p>
            <a:pPr>
              <a:spcAft>
                <a:spcPts val="800"/>
              </a:spcAft>
              <a:defRPr sz="1800"/>
            </a:pPr>
            <a:r>
              <a:t>  • BUT: Inner ear bones like modern whales!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AMBULOCETUS (48 MYA):</a:t>
            </a:r>
          </a:p>
          <a:p>
            <a:pPr>
              <a:spcAft>
                <a:spcPts val="800"/>
              </a:spcAft>
              <a:defRPr sz="1800"/>
            </a:pPr>
            <a:r>
              <a:t>  • 4 legs, webbed feet</a:t>
            </a:r>
          </a:p>
          <a:p>
            <a:pPr>
              <a:spcAft>
                <a:spcPts val="800"/>
              </a:spcAft>
              <a:defRPr sz="1800"/>
            </a:pPr>
            <a:r>
              <a:t>  • Could walk AND swim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RODHOCETUS (46 MYA):</a:t>
            </a:r>
          </a:p>
          <a:p>
            <a:pPr>
              <a:spcAft>
                <a:spcPts val="800"/>
              </a:spcAft>
              <a:defRPr sz="1800"/>
            </a:pPr>
            <a:r>
              <a:t>  • Smaller hind legs, larger tail</a:t>
            </a:r>
          </a:p>
          <a:p>
            <a:pPr>
              <a:spcAft>
                <a:spcPts val="800"/>
              </a:spcAft>
              <a:defRPr sz="1800"/>
            </a:pPr>
            <a:r>
              <a:t>  • Mostly aquatic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BASILOSAURUS (37 MYA):</a:t>
            </a:r>
          </a:p>
          <a:p>
            <a:pPr>
              <a:spcAft>
                <a:spcPts val="800"/>
              </a:spcAft>
              <a:defRPr sz="1800"/>
            </a:pPr>
            <a:r>
              <a:t>  • Tiny vestigial hind legs (useless!)</a:t>
            </a:r>
          </a:p>
          <a:p>
            <a:pPr>
              <a:spcAft>
                <a:spcPts val="800"/>
              </a:spcAft>
              <a:defRPr sz="1800"/>
            </a:pPr>
            <a:r>
              <a:t>  • Fully aquatic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MODERN WHALES: Flippers with finger bones, vestigial hip bones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2 Reasoning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do transitional fossils PROVE?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REASONING:</a:t>
            </a:r>
          </a:p>
          <a:p>
            <a:pPr>
              <a:spcAft>
                <a:spcPts val="800"/>
              </a:spcAft>
              <a:defRPr sz="1800"/>
            </a:pPr>
            <a:r>
              <a:t>1. We find fossils with features of TWO groups</a:t>
            </a:r>
          </a:p>
          <a:p>
            <a:pPr>
              <a:spcAft>
                <a:spcPts val="800"/>
              </a:spcAft>
              <a:defRPr sz="1800"/>
            </a:pPr>
            <a:r>
              <a:t>2. These fossils are dated BETWEEN the two groups</a:t>
            </a:r>
          </a:p>
          <a:p>
            <a:pPr>
              <a:spcAft>
                <a:spcPts val="800"/>
              </a:spcAft>
              <a:defRPr sz="1800"/>
            </a:pPr>
            <a:r>
              <a:t>3. The sequence shows GRADUAL change over time</a:t>
            </a:r>
          </a:p>
          <a:p>
            <a:pPr>
              <a:spcAft>
                <a:spcPts val="800"/>
              </a:spcAft>
              <a:defRPr sz="1800"/>
            </a:pPr>
            <a:r>
              <a:t>4. Each step is a small modification (natural selection!)</a:t>
            </a:r>
          </a:p>
          <a:p>
            <a:pPr>
              <a:spcAft>
                <a:spcPts val="800"/>
              </a:spcAft>
              <a:defRPr sz="1800"/>
            </a:pPr>
            <a:r>
              <a:t>5. This is exactly what evolution predicts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TRANSITIONAL FOSSIL = 'caught in the act' of evolution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Other examples: Tiktaalik (fish → tetrapod),</a:t>
            </a:r>
          </a:p>
          <a:p>
            <a:pPr>
              <a:spcAft>
                <a:spcPts val="800"/>
              </a:spcAft>
              <a:defRPr sz="1800"/>
            </a:pPr>
            <a:r>
              <a:t>                Archaeopteryx (dinosaur → bird)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2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✓ Can you identify TRANSITIONAL features?</a:t>
            </a:r>
          </a:p>
          <a:p>
            <a:pPr>
              <a:spcAft>
                <a:spcPts val="800"/>
              </a:spcAft>
              <a:defRPr sz="1800"/>
            </a:pPr>
            <a:r>
              <a:t>  (Features that are 'in between' ancestor and descendant)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Can you explain what transitional fossils prove?</a:t>
            </a:r>
          </a:p>
          <a:p>
            <a:pPr>
              <a:spcAft>
                <a:spcPts val="800"/>
              </a:spcAft>
              <a:defRPr sz="1800"/>
            </a:pPr>
            <a:r>
              <a:t>  (Evolution is gradual, leaves intermediate forms)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connect to Week 1 natural selection?</a:t>
            </a:r>
          </a:p>
          <a:p>
            <a:pPr>
              <a:spcAft>
                <a:spcPts val="800"/>
              </a:spcAft>
              <a:defRPr sz="1800"/>
            </a:pPr>
            <a:r>
              <a:t>  (Each change is a small modification that helped survival)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TURN &amp; TALK: Why don't we find transitional fossils for</a:t>
            </a:r>
          </a:p>
          <a:p>
            <a:pPr>
              <a:spcAft>
                <a:spcPts val="800"/>
              </a:spcAft>
              <a:defRPr sz="1800"/>
            </a:pPr>
            <a:r>
              <a:t>EVERY species? (Hint: Fossilization is rare)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3 | 25 Points | ~20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DESIGN A TRANSITIONAL FORM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CHALLENGE: Predict features of a MISSING transitional form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SCENARIO: Ancestor = land mammal with 4 legs</a:t>
            </a:r>
          </a:p>
          <a:p>
            <a:pPr>
              <a:spcAft>
                <a:spcPts val="800"/>
              </a:spcAft>
              <a:defRPr sz="1800"/>
            </a:pPr>
            <a:r>
              <a:t>          Descendant = aquatic mammal with flippers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YOUR TASK:</a:t>
            </a:r>
          </a:p>
          <a:p>
            <a:pPr>
              <a:spcAft>
                <a:spcPts val="800"/>
              </a:spcAft>
              <a:defRPr sz="1800"/>
            </a:pPr>
            <a:r>
              <a:t>  1. Predict 3 intermediate features</a:t>
            </a:r>
          </a:p>
          <a:p>
            <a:pPr>
              <a:spcAft>
                <a:spcPts val="800"/>
              </a:spcAft>
              <a:defRPr sz="1800"/>
            </a:pPr>
            <a:r>
              <a:t>  2. Explain WHY each feature would be 'in between'</a:t>
            </a:r>
          </a:p>
          <a:p>
            <a:pPr>
              <a:spcAft>
                <a:spcPts val="800"/>
              </a:spcAft>
              <a:defRPr sz="1800"/>
            </a:pPr>
            <a:r>
              <a:t>  3. Connect to natural selection (what advantage?)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SKETCH your transitional form on notecard FIRST!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3: Strong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WEAK: 'It would have short legs and a tail.'</a:t>
            </a:r>
          </a:p>
          <a:p>
            <a:pPr>
              <a:spcAft>
                <a:spcPts val="800"/>
              </a:spcAft>
              <a:defRPr sz="1800"/>
            </a:pPr>
            <a:r>
              <a:t>  Problem: No reasoning, no 'in between' logic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STRONG:</a:t>
            </a:r>
          </a:p>
          <a:p>
            <a:pPr>
              <a:spcAft>
                <a:spcPts val="800"/>
              </a:spcAft>
              <a:defRPr sz="1800"/>
            </a:pPr>
            <a:r>
              <a:t>  'LIMBS: Would have webbed feet (in between walking legs</a:t>
            </a:r>
          </a:p>
          <a:p>
            <a:pPr>
              <a:spcAft>
                <a:spcPts val="800"/>
              </a:spcAft>
              <a:defRPr sz="1800"/>
            </a:pPr>
            <a:r>
              <a:t>   and flippers) - webbing helps swim while still allowing</a:t>
            </a:r>
          </a:p>
          <a:p>
            <a:pPr>
              <a:spcAft>
                <a:spcPts val="800"/>
              </a:spcAft>
              <a:defRPr sz="1800"/>
            </a:pPr>
            <a:r>
              <a:t>   some walking ability.</a:t>
            </a:r>
          </a:p>
          <a:p>
            <a:pPr>
              <a:spcAft>
                <a:spcPts val="800"/>
              </a:spcAft>
              <a:defRPr sz="1800"/>
            </a:pPr>
            <a:r>
              <a:t>  </a:t>
            </a:r>
          </a:p>
          <a:p>
            <a:pPr>
              <a:spcAft>
                <a:spcPts val="800"/>
              </a:spcAft>
              <a:defRPr sz="1800"/>
            </a:pPr>
            <a:r>
              <a:t>   FUR: Would have water-resistant fur (in between regular</a:t>
            </a:r>
          </a:p>
          <a:p>
            <a:pPr>
              <a:spcAft>
                <a:spcPts val="800"/>
              </a:spcAft>
              <a:defRPr sz="1800"/>
            </a:pPr>
            <a:r>
              <a:t>   fur and smooth skin) - traps air for insulation but</a:t>
            </a:r>
          </a:p>
          <a:p>
            <a:pPr>
              <a:spcAft>
                <a:spcPts val="800"/>
              </a:spcAft>
              <a:defRPr sz="1800"/>
            </a:pPr>
            <a:r>
              <a:t>   reduces drag when swimming.</a:t>
            </a:r>
          </a:p>
          <a:p>
            <a:pPr>
              <a:spcAft>
                <a:spcPts val="800"/>
              </a:spcAft>
              <a:defRPr sz="1800"/>
            </a:pPr>
            <a:r>
              <a:t>   </a:t>
            </a:r>
          </a:p>
          <a:p>
            <a:pPr>
              <a:spcAft>
                <a:spcPts val="800"/>
              </a:spcAft>
              <a:defRPr sz="1800"/>
            </a:pPr>
            <a:r>
              <a:t>   EARS: Would have small external ears (in between visible</a:t>
            </a:r>
          </a:p>
          <a:p>
            <a:pPr>
              <a:spcAft>
                <a:spcPts val="800"/>
              </a:spcAft>
              <a:defRPr sz="1800"/>
            </a:pPr>
            <a:r>
              <a:t>   ears and no ears) - reduces drag but still allows some</a:t>
            </a:r>
          </a:p>
          <a:p>
            <a:pPr>
              <a:spcAft>
                <a:spcPts val="800"/>
              </a:spcAft>
              <a:defRPr sz="1800"/>
            </a:pPr>
            <a:r>
              <a:t>   air-hearing.'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INCLUDES: Feature + intermediate logic + survival advantage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EXIT TICKET | 23 Points | ~15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YOU'LL SHOW:</a:t>
            </a:r>
          </a:p>
          <a:p>
            <a:pPr>
              <a:spcAft>
                <a:spcPts val="800"/>
              </a:spcAft>
              <a:defRPr sz="1800"/>
            </a:pPr>
            <a:r>
              <a:t>1. Distinguish homologous vs analogous (5 pts)</a:t>
            </a:r>
          </a:p>
          <a:p>
            <a:pPr>
              <a:spcAft>
                <a:spcPts val="800"/>
              </a:spcAft>
              <a:defRPr sz="1800"/>
            </a:pPr>
            <a:r>
              <a:t>2. Explain what transitional fossils prove (5 pts)</a:t>
            </a:r>
          </a:p>
          <a:p>
            <a:pPr>
              <a:spcAft>
                <a:spcPts val="800"/>
              </a:spcAft>
              <a:defRPr sz="1800"/>
            </a:pPr>
            <a:r>
              <a:t>3. Connect to Week 1 natural selection (4 pts)</a:t>
            </a:r>
          </a:p>
          <a:p>
            <a:pPr>
              <a:spcAft>
                <a:spcPts val="800"/>
              </a:spcAft>
              <a:defRPr sz="1800"/>
            </a:pPr>
            <a:r>
              <a:t>4. Apply: Is this evidence of common ancestry? (4 pts)</a:t>
            </a:r>
          </a:p>
          <a:p>
            <a:pPr>
              <a:spcAft>
                <a:spcPts val="800"/>
              </a:spcAft>
              <a:defRPr sz="1800"/>
            </a:pPr>
            <a:r>
              <a:t>5. LAMARCKIAN CHECK (5 pts)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CHECK BEFORE SUBMIT:</a:t>
            </a:r>
          </a:p>
          <a:p>
            <a:pPr>
              <a:spcAft>
                <a:spcPts val="800"/>
              </a:spcAft>
              <a:defRPr sz="1800"/>
            </a:pPr>
            <a:r>
              <a:t>  • Did you explain structure vs function?</a:t>
            </a:r>
          </a:p>
          <a:p>
            <a:pPr>
              <a:spcAft>
                <a:spcPts val="800"/>
              </a:spcAft>
              <a:defRPr sz="1800"/>
            </a:pPr>
            <a:r>
              <a:t>  • Did you mention gradual change over generations?</a:t>
            </a:r>
          </a:p>
          <a:p>
            <a:pPr>
              <a:spcAft>
                <a:spcPts val="800"/>
              </a:spcAft>
              <a:defRPr sz="1800"/>
            </a:pPr>
            <a:r>
              <a:t>  • Did you avoid 'they changed because they needed to'?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Total Today: 68 points | Total Week: 100 points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Week 2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ANATOMICAL EVIDENCE:</a:t>
            </a:r>
          </a:p>
          <a:p>
            <a:pPr>
              <a:spcAft>
                <a:spcPts val="800"/>
              </a:spcAft>
              <a:defRPr sz="1800"/>
            </a:pPr>
            <a:r>
              <a:t>  • Homologous structures → common ancestor</a:t>
            </a:r>
          </a:p>
          <a:p>
            <a:pPr>
              <a:spcAft>
                <a:spcPts val="800"/>
              </a:spcAft>
              <a:defRPr sz="1800"/>
            </a:pPr>
            <a:r>
              <a:t>  • Analogous structures → convergent evolution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FOSSIL EVIDENCE:</a:t>
            </a:r>
          </a:p>
          <a:p>
            <a:pPr>
              <a:spcAft>
                <a:spcPts val="800"/>
              </a:spcAft>
              <a:defRPr sz="1800"/>
            </a:pPr>
            <a:r>
              <a:t>  • Transitional fossils show gradual change</a:t>
            </a:r>
          </a:p>
          <a:p>
            <a:pPr>
              <a:spcAft>
                <a:spcPts val="800"/>
              </a:spcAft>
              <a:defRPr sz="1800"/>
            </a:pPr>
            <a:r>
              <a:t>  • Intermediate features = evolution 'caught in act'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CONNECTION TO WEEK 1:</a:t>
            </a:r>
          </a:p>
          <a:p>
            <a:pPr>
              <a:spcAft>
                <a:spcPts val="800"/>
              </a:spcAft>
              <a:defRPr sz="1800"/>
            </a:pPr>
            <a:r>
              <a:t>  • Natural selection MODIFIES existing structures</a:t>
            </a:r>
          </a:p>
          <a:p>
            <a:pPr>
              <a:spcAft>
                <a:spcPts val="800"/>
              </a:spcAft>
              <a:defRPr sz="1800"/>
            </a:pPr>
            <a:r>
              <a:t>  • POPULATIONS evolve, not individuals</a:t>
            </a:r>
          </a:p>
          <a:p>
            <a:pPr>
              <a:spcAft>
                <a:spcPts val="800"/>
              </a:spcAft>
              <a:defRPr sz="1800"/>
            </a:pPr>
            <a:r>
              <a:t>  • Variation exists BEFORE selection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NOTECARD: One thing learned + One question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 Week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WEEK 3: SYNTHESIS &amp; ASSESSMENT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You'll demonstrate mastery of:</a:t>
            </a:r>
          </a:p>
          <a:p>
            <a:pPr>
              <a:spcAft>
                <a:spcPts val="800"/>
              </a:spcAft>
              <a:defRPr sz="1800"/>
            </a:pPr>
            <a:r>
              <a:t>  • Natural selection mechanism (Week 1)</a:t>
            </a:r>
          </a:p>
          <a:p>
            <a:pPr>
              <a:spcAft>
                <a:spcPts val="800"/>
              </a:spcAft>
              <a:defRPr sz="1800"/>
            </a:pPr>
            <a:r>
              <a:t>  • Evidence of evolution (Week 2)</a:t>
            </a:r>
          </a:p>
          <a:p>
            <a:pPr>
              <a:spcAft>
                <a:spcPts val="800"/>
              </a:spcAft>
              <a:defRPr sz="1800"/>
            </a:pPr>
            <a:r>
              <a:t>  • Lamarckian misconception (critical!)</a:t>
            </a:r>
          </a:p>
          <a:p>
            <a:pPr>
              <a:spcAft>
                <a:spcPts val="800"/>
              </a:spcAft>
              <a:defRPr sz="1800"/>
            </a:pPr>
            <a:r>
              <a:t>  • Forces spiral from Cycle 2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STUDY TIP: Can you explain WHY whales have finger bones</a:t>
            </a:r>
          </a:p>
          <a:p>
            <a:pPr>
              <a:spcAft>
                <a:spcPts val="800"/>
              </a:spcAft>
              <a:defRPr sz="1800"/>
            </a:pPr>
            <a:r>
              <a:t>using BOTH natural selection AND fossil evidence?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'How do we know whales evolved from land mammals?'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